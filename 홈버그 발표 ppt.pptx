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5" r:id="rId10"/>
  </p:sldIdLst>
  <p:sldSz cx="18288000" cy="10287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DM Sans" panose="020B0600000101010101" charset="0"/>
      <p:regular r:id="rId15"/>
    </p:embeddedFont>
    <p:embeddedFont>
      <p:font typeface="DM Sans Bold" panose="020B0600000101010101" charset="0"/>
      <p:regular r:id="rId16"/>
    </p:embeddedFont>
    <p:embeddedFont>
      <p:font typeface="Georgia Pro Light" panose="02040302050405020303" pitchFamily="18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447800" y="2247900"/>
            <a:ext cx="16166378" cy="3029769"/>
            <a:chOff x="-12382500" y="914400"/>
            <a:chExt cx="21555171" cy="4039691"/>
          </a:xfrm>
        </p:grpSpPr>
        <p:sp>
          <p:nvSpPr>
            <p:cNvPr id="8" name="TextBox 8"/>
            <p:cNvSpPr txBox="1"/>
            <p:nvPr/>
          </p:nvSpPr>
          <p:spPr>
            <a:xfrm>
              <a:off x="-12382500" y="914400"/>
              <a:ext cx="9182100" cy="1795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</a:pPr>
              <a:r>
                <a:rPr lang="en-US" sz="10499" dirty="0" err="1">
                  <a:solidFill>
                    <a:srgbClr val="FFFFFF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HomeBug</a:t>
              </a:r>
              <a:endParaRPr lang="en-US" sz="10499" dirty="0">
                <a:solidFill>
                  <a:srgbClr val="FFFFFF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137115"/>
              <a:ext cx="9172671" cy="816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39"/>
                </a:lnSpc>
              </a:pPr>
              <a:endParaRPr lang="en-US" sz="35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44200" y="8705184"/>
            <a:ext cx="5743575" cy="924591"/>
            <a:chOff x="0" y="-47625"/>
            <a:chExt cx="7658100" cy="123278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91344"/>
              <a:ext cx="76581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신민용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658100" cy="58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2020145037 </a:t>
              </a:r>
              <a:r>
                <a:rPr lang="ko-KR" altLang="en-US" sz="2600" b="1" dirty="0" err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신민용</a:t>
              </a:r>
              <a:endParaRPr lang="en-US" sz="2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4833495"/>
            <a:chOff x="0" y="66675"/>
            <a:chExt cx="11099800" cy="6444659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ko-KR" altLang="en-US" sz="8000" dirty="0">
                  <a:solidFill>
                    <a:srgbClr val="FFFFFF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목적</a:t>
              </a:r>
              <a:endParaRPr lang="en-US" sz="8000" dirty="0">
                <a:solidFill>
                  <a:srgbClr val="FFFFFF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4"/>
              <a:ext cx="11099800" cy="4463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ko-KR" altLang="en-US" sz="28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집안에 갑작스럽게 나타난 해충에 대한 해결책이 막막할 경우</a:t>
              </a:r>
              <a:endParaRPr lang="en-US" altLang="ko-KR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ko-KR" altLang="en-US" sz="28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또는 집안에 해충이 나타났으니 정체를 알지 못할 경우</a:t>
              </a:r>
              <a:endParaRPr lang="en-US" altLang="ko-KR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ko-KR" altLang="en-US" sz="28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집 근처 가까운 방역 업체가 필요한 경우</a:t>
              </a:r>
              <a:endParaRPr lang="en-US" altLang="ko-KR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ko-KR" altLang="en-US" sz="28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해충의 정보를 알고 싶을 경우</a:t>
              </a:r>
              <a:endParaRPr lang="en-US" altLang="ko-KR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716756"/>
            <a:ext cx="8324850" cy="3329300"/>
            <a:chOff x="0" y="66675"/>
            <a:chExt cx="11099800" cy="4439066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ko-KR" altLang="en-US" sz="8000" dirty="0">
                  <a:solidFill>
                    <a:srgbClr val="FFFFFF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주요 기능</a:t>
              </a:r>
              <a:endParaRPr lang="en-US" sz="8000" dirty="0">
                <a:solidFill>
                  <a:srgbClr val="FFFFFF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4"/>
              <a:ext cx="11099800" cy="2457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ko-KR" altLang="en-US" sz="28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카메라를 통해 해충의 정체를 확인할 수 있습니다</a:t>
              </a:r>
              <a:r>
                <a:rPr lang="en-US" altLang="ko-KR" sz="28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ko-KR" altLang="en-US" sz="28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도감을 통해 해충의 정보를 확인할 수 있습니다</a:t>
              </a:r>
              <a:r>
                <a:rPr lang="en-US" altLang="ko-KR" sz="28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. 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ko-KR" altLang="en-US" sz="28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지역에서 가까운 방역 업체와 연락이 가능합니다</a:t>
              </a:r>
              <a:r>
                <a:rPr lang="en-US" altLang="ko-KR" sz="28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lang="en-US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D27574C0-4C1C-44F7-B99B-4F17F5E15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8283"/>
            <a:ext cx="5410200" cy="10340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716756"/>
            <a:ext cx="8324850" cy="4071828"/>
            <a:chOff x="0" y="66675"/>
            <a:chExt cx="11099800" cy="5429104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ko-KR" altLang="en-US" sz="8000" dirty="0">
                  <a:solidFill>
                    <a:srgbClr val="4CAF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설정</a:t>
              </a:r>
              <a:endParaRPr lang="en-US" sz="8000" dirty="0">
                <a:solidFill>
                  <a:srgbClr val="4CAF50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19620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altLang="ko-KR" sz="2100" dirty="0" err="1">
                  <a:latin typeface="DM Sans"/>
                  <a:ea typeface="DM Sans"/>
                  <a:cs typeface="DM Sans"/>
                  <a:sym typeface="DM Sans"/>
                </a:rPr>
                <a:t>HomeBug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의 설정은 지역을 변경하거나 </a:t>
              </a:r>
              <a:r>
                <a:rPr lang="ko-KR" altLang="en-US" sz="2100" dirty="0" err="1">
                  <a:latin typeface="DM Sans"/>
                  <a:ea typeface="DM Sans"/>
                  <a:cs typeface="DM Sans"/>
                  <a:sym typeface="DM Sans"/>
                </a:rPr>
                <a:t>다크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 모드 등 간단한 기능이 구현되어 있습니다</a:t>
              </a:r>
              <a:r>
                <a:rPr lang="en-US" altLang="ko-KR" sz="2100" dirty="0"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현재는 </a:t>
              </a:r>
              <a:r>
                <a:rPr lang="en-US" altLang="ko-KR" sz="2100" dirty="0">
                  <a:latin typeface="DM Sans"/>
                  <a:ea typeface="DM Sans"/>
                  <a:cs typeface="DM Sans"/>
                  <a:sym typeface="DM Sans"/>
                </a:rPr>
                <a:t>50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가지 종류의 벌레가 저장되어 있습니다</a:t>
              </a:r>
              <a:endParaRPr lang="en-US" sz="2100" dirty="0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588C5E15-C636-47F2-8C11-4FCBFD3FC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0"/>
            <a:ext cx="462915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734675" cy="1028700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3" name="TextBox 3"/>
          <p:cNvSpPr txBox="1"/>
          <p:nvPr/>
        </p:nvSpPr>
        <p:spPr>
          <a:xfrm>
            <a:off x="666750" y="733425"/>
            <a:ext cx="9763125" cy="226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dirty="0">
                <a:solidFill>
                  <a:srgbClr val="FFFF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Pest Encyclopedia &amp; Detailed Info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4212431"/>
            <a:ext cx="5200650" cy="891913"/>
            <a:chOff x="0" y="-47625"/>
            <a:chExt cx="6934200" cy="1189217"/>
          </a:xfrm>
        </p:grpSpPr>
        <p:sp>
          <p:nvSpPr>
            <p:cNvPr id="5" name="TextBox 5"/>
            <p:cNvSpPr txBox="1"/>
            <p:nvPr/>
          </p:nvSpPr>
          <p:spPr>
            <a:xfrm>
              <a:off x="0" y="669787"/>
              <a:ext cx="53467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3000</a:t>
              </a:r>
              <a:r>
                <a:rPr lang="ko-KR" altLang="en-US" sz="21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정도 되는 데이터 셋</a:t>
              </a:r>
              <a:endParaRPr 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934200" cy="5775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TensorFlow Lite </a:t>
              </a:r>
              <a:r>
                <a:rPr lang="ko-KR" altLang="en-US" sz="2600" b="1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기반 실시간 인식</a:t>
              </a:r>
              <a:endParaRPr lang="en-US" sz="2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3109464B-EC21-4199-9507-CB27FEBF2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401" y="0"/>
            <a:ext cx="5529470" cy="10367758"/>
          </a:xfrm>
          <a:prstGeom prst="rect">
            <a:avLst/>
          </a:prstGeom>
        </p:spPr>
      </p:pic>
      <p:sp>
        <p:nvSpPr>
          <p:cNvPr id="31" name="TextBox 5">
            <a:extLst>
              <a:ext uri="{FF2B5EF4-FFF2-40B4-BE49-F238E27FC236}">
                <a16:creationId xmlns:a16="http://schemas.microsoft.com/office/drawing/2014/main" id="{E0F25587-2C56-4E33-B826-51565E17F163}"/>
              </a:ext>
            </a:extLst>
          </p:cNvPr>
          <p:cNvSpPr txBox="1"/>
          <p:nvPr/>
        </p:nvSpPr>
        <p:spPr>
          <a:xfrm>
            <a:off x="666750" y="6346898"/>
            <a:ext cx="4010025" cy="353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ko-KR" alt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지역별 방역 업체</a:t>
            </a:r>
            <a:endParaRPr lang="en-US" sz="21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1220154-9D06-4E42-9E42-C2B67FB48AE6}"/>
              </a:ext>
            </a:extLst>
          </p:cNvPr>
          <p:cNvSpPr txBox="1"/>
          <p:nvPr/>
        </p:nvSpPr>
        <p:spPr>
          <a:xfrm>
            <a:off x="666750" y="5808839"/>
            <a:ext cx="5200650" cy="441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ko-KR" altLang="en-US" sz="2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위치</a:t>
            </a:r>
            <a:r>
              <a:rPr lang="en-US" sz="2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ko-KR" altLang="en-US" sz="2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기반 검색</a:t>
            </a:r>
            <a:endParaRPr lang="en-US" sz="26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4571C638-AD59-4683-BEB6-93F9A8697B2E}"/>
              </a:ext>
            </a:extLst>
          </p:cNvPr>
          <p:cNvSpPr txBox="1"/>
          <p:nvPr/>
        </p:nvSpPr>
        <p:spPr>
          <a:xfrm>
            <a:off x="666750" y="8280381"/>
            <a:ext cx="4010025" cy="1099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50 </a:t>
            </a:r>
            <a:r>
              <a:rPr lang="ko-KR" alt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종류 상세 정보</a:t>
            </a:r>
            <a:endParaRPr lang="en-US" altLang="ko-KR" sz="21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940"/>
              </a:lnSpc>
            </a:pPr>
            <a:r>
              <a:rPr lang="ko-KR" alt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크기</a:t>
            </a:r>
            <a:r>
              <a:rPr lang="en-US" altLang="ko-KR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ko-KR" alt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서식지</a:t>
            </a:r>
            <a:r>
              <a:rPr lang="en-US" altLang="ko-KR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ko-KR" alt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위험도</a:t>
            </a:r>
            <a:endParaRPr lang="en-US" altLang="ko-KR" sz="21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940"/>
              </a:lnSpc>
            </a:pPr>
            <a:r>
              <a:rPr lang="ko-KR" alt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카테고리별 분류</a:t>
            </a:r>
            <a:endParaRPr lang="en-US" sz="21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217F92B2-994D-4193-8DB8-9975621E29BE}"/>
              </a:ext>
            </a:extLst>
          </p:cNvPr>
          <p:cNvSpPr txBox="1"/>
          <p:nvPr/>
        </p:nvSpPr>
        <p:spPr>
          <a:xfrm>
            <a:off x="666750" y="7742322"/>
            <a:ext cx="5200650" cy="441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ko-KR" altLang="en-US" sz="2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해충 백과사전</a:t>
            </a:r>
            <a:endParaRPr lang="en-US" sz="26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716756"/>
            <a:ext cx="8324850" cy="5127197"/>
            <a:chOff x="0" y="66675"/>
            <a:chExt cx="11099800" cy="6836259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ko-KR" altLang="en-US" sz="8000" dirty="0">
                  <a:solidFill>
                    <a:srgbClr val="4CAF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해충 도감</a:t>
              </a:r>
              <a:endParaRPr lang="en-US" sz="8000" dirty="0">
                <a:solidFill>
                  <a:srgbClr val="4CAF50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444998"/>
              <a:ext cx="11099800" cy="24579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사진을 </a:t>
              </a:r>
              <a:r>
                <a:rPr lang="ko-KR" altLang="en-US" sz="2100" dirty="0" err="1">
                  <a:latin typeface="DM Sans"/>
                  <a:ea typeface="DM Sans"/>
                  <a:cs typeface="DM Sans"/>
                  <a:sym typeface="DM Sans"/>
                </a:rPr>
                <a:t>불편해하는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 분들을 위한 보호 모드</a:t>
              </a:r>
              <a:endParaRPr lang="en-US" altLang="ko-KR" sz="2100" dirty="0"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altLang="ko-KR" sz="2100" dirty="0"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기본 정보와 해충 익충 표시 </a:t>
              </a:r>
              <a:endParaRPr lang="en-US" altLang="ko-KR" sz="2100" dirty="0"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altLang="ko-KR" sz="2100" dirty="0"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특징 및 서식지</a:t>
              </a:r>
              <a:endParaRPr lang="en-US" altLang="ko-KR" sz="2100" dirty="0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D0FE6EE1-8E40-4176-A138-72B3916E27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0201" y="0"/>
            <a:ext cx="5290930" cy="99889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716756"/>
            <a:ext cx="8324850" cy="3699932"/>
            <a:chOff x="0" y="66675"/>
            <a:chExt cx="11099800" cy="4933242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ko-KR" altLang="en-US" sz="8000" dirty="0">
                  <a:solidFill>
                    <a:srgbClr val="4CAF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방역업체 </a:t>
              </a:r>
              <a:endParaRPr lang="en-US" sz="8000" dirty="0">
                <a:solidFill>
                  <a:srgbClr val="4CAF50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4"/>
              <a:ext cx="11099800" cy="1466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내 지역 맞춤형 방역 업체 </a:t>
              </a:r>
              <a:endParaRPr lang="en-US" altLang="ko-KR" sz="2100" dirty="0"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ko-KR" altLang="en-US" sz="2100" dirty="0" err="1">
                  <a:latin typeface="DM Sans"/>
                  <a:ea typeface="DM Sans"/>
                  <a:cs typeface="DM Sans"/>
                  <a:sym typeface="DM Sans"/>
                </a:rPr>
                <a:t>자동변동되는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 지역</a:t>
              </a:r>
              <a:endParaRPr lang="en-US" sz="2100" dirty="0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BB4B2DFD-5D21-4098-896C-D59FB83F4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0"/>
            <a:ext cx="5430078" cy="102104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716756"/>
            <a:ext cx="11296650" cy="5552620"/>
            <a:chOff x="0" y="66675"/>
            <a:chExt cx="15062200" cy="7403492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ko-KR" altLang="en-US" sz="8000" dirty="0" err="1">
                  <a:solidFill>
                    <a:srgbClr val="4CAF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프롬포트</a:t>
              </a:r>
              <a:endParaRPr lang="en-US" sz="8000" dirty="0">
                <a:solidFill>
                  <a:srgbClr val="4CAF50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5"/>
              <a:ext cx="15062200" cy="39364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저는 </a:t>
              </a:r>
              <a:r>
                <a:rPr lang="en-US" altLang="ko-KR" sz="2100" dirty="0">
                  <a:latin typeface="DM Sans"/>
                  <a:ea typeface="DM Sans"/>
                  <a:cs typeface="DM Sans"/>
                  <a:sym typeface="DM Sans"/>
                </a:rPr>
                <a:t>Claude, Gemini, GPT 3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개를 사용했습니다</a:t>
              </a:r>
              <a:r>
                <a:rPr lang="en-US" altLang="ko-KR" sz="2100" dirty="0"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latin typeface="DM Sans"/>
                <a:ea typeface="DM Sans"/>
                <a:cs typeface="DM Sans"/>
                <a:sym typeface="DM Sans"/>
              </a:endParaRPr>
            </a:p>
            <a:p>
              <a:pPr lvl="0" algn="l">
                <a:lnSpc>
                  <a:spcPts val="2940"/>
                </a:lnSpc>
              </a:pPr>
              <a:r>
                <a:rPr lang="en-US" sz="2100" dirty="0">
                  <a:latin typeface="DM Sans"/>
                  <a:ea typeface="DM Sans"/>
                  <a:cs typeface="DM Sans"/>
                  <a:sym typeface="DM Sans"/>
                </a:rPr>
                <a:t>Claude :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 프로젝트의 메인 개발 도구로서 전체적인 앱 구조와 디자인 모델을 구축하는 역할</a:t>
              </a:r>
              <a:endParaRPr lang="en-US" altLang="ko-KR" sz="2100" dirty="0">
                <a:latin typeface="DM Sans"/>
                <a:ea typeface="DM Sans"/>
                <a:cs typeface="DM Sans"/>
                <a:sym typeface="DM Sans"/>
              </a:endParaRPr>
            </a:p>
            <a:p>
              <a:pPr lvl="0" algn="l">
                <a:lnSpc>
                  <a:spcPts val="2940"/>
                </a:lnSpc>
              </a:pPr>
              <a:endParaRPr lang="en-US" sz="2100" dirty="0">
                <a:latin typeface="DM Sans"/>
                <a:ea typeface="DM Sans"/>
                <a:cs typeface="DM Sans"/>
                <a:sym typeface="DM Sans"/>
              </a:endParaRPr>
            </a:p>
            <a:p>
              <a:pPr lvl="0" algn="l">
                <a:lnSpc>
                  <a:spcPts val="2940"/>
                </a:lnSpc>
              </a:pPr>
              <a:r>
                <a:rPr lang="en-US" sz="2100" dirty="0">
                  <a:latin typeface="DM Sans"/>
                  <a:ea typeface="DM Sans"/>
                  <a:cs typeface="DM Sans"/>
                  <a:sym typeface="DM Sans"/>
                </a:rPr>
                <a:t>Gemini :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 앱의 시각적인 초기 모델을 생성</a:t>
              </a:r>
              <a:r>
                <a:rPr lang="en-US" altLang="ko-KR" sz="2100" dirty="0">
                  <a:latin typeface="DM Sans"/>
                  <a:ea typeface="DM Sans"/>
                  <a:cs typeface="DM Sans"/>
                  <a:sym typeface="DM Sans"/>
                </a:rPr>
                <a:t>, 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다른 </a:t>
              </a:r>
              <a:r>
                <a:rPr lang="en-US" altLang="ko-KR" sz="2100" dirty="0">
                  <a:latin typeface="DM Sans"/>
                  <a:ea typeface="DM Sans"/>
                  <a:cs typeface="DM Sans"/>
                  <a:sym typeface="DM Sans"/>
                </a:rPr>
                <a:t>Ai 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도구들을 보조</a:t>
              </a:r>
              <a:endParaRPr lang="en-US" altLang="ko-KR" sz="2100" dirty="0">
                <a:latin typeface="DM Sans"/>
                <a:ea typeface="DM Sans"/>
                <a:cs typeface="DM Sans"/>
                <a:sym typeface="DM Sans"/>
              </a:endParaRPr>
            </a:p>
            <a:p>
              <a:pPr lvl="0" algn="l">
                <a:lnSpc>
                  <a:spcPts val="2940"/>
                </a:lnSpc>
              </a:pPr>
              <a:endParaRPr lang="en-US" sz="2100" dirty="0">
                <a:latin typeface="DM Sans"/>
                <a:ea typeface="DM Sans"/>
                <a:cs typeface="DM Sans"/>
                <a:sym typeface="DM Sans"/>
              </a:endParaRPr>
            </a:p>
            <a:p>
              <a:pPr lvl="0" algn="l">
                <a:lnSpc>
                  <a:spcPts val="2940"/>
                </a:lnSpc>
              </a:pPr>
              <a:r>
                <a:rPr lang="en-US" sz="2100" dirty="0">
                  <a:latin typeface="DM Sans"/>
                  <a:ea typeface="DM Sans"/>
                  <a:cs typeface="DM Sans"/>
                  <a:sym typeface="DM Sans"/>
                </a:rPr>
                <a:t>GPT :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다른 </a:t>
              </a:r>
              <a:r>
                <a:rPr lang="en-US" altLang="ko-KR" sz="2100" dirty="0">
                  <a:latin typeface="DM Sans"/>
                  <a:ea typeface="DM Sans"/>
                  <a:cs typeface="DM Sans"/>
                  <a:sym typeface="DM Sans"/>
                </a:rPr>
                <a:t>Ai 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도구들이 요청을 정확하게 해석하지 못할 때</a:t>
              </a:r>
              <a:r>
                <a:rPr lang="en-US" altLang="ko-KR" sz="2100" dirty="0">
                  <a:latin typeface="DM Sans"/>
                  <a:ea typeface="DM Sans"/>
                  <a:cs typeface="DM Sans"/>
                  <a:sym typeface="DM Sans"/>
                </a:rPr>
                <a:t>, 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추가적인 설명을 포함한 정교한 </a:t>
              </a:r>
              <a:r>
                <a:rPr lang="ko-KR" altLang="en-US" sz="2100" dirty="0" err="1">
                  <a:latin typeface="DM Sans"/>
                  <a:ea typeface="DM Sans"/>
                  <a:cs typeface="DM Sans"/>
                  <a:sym typeface="DM Sans"/>
                </a:rPr>
                <a:t>프롬포트를</a:t>
              </a:r>
              <a:r>
                <a:rPr lang="ko-KR" altLang="en-US" sz="2100" dirty="0">
                  <a:latin typeface="DM Sans"/>
                  <a:ea typeface="DM Sans"/>
                  <a:cs typeface="DM Sans"/>
                  <a:sym typeface="DM Sans"/>
                </a:rPr>
                <a:t> 작성하는데 활용</a:t>
              </a:r>
              <a:endParaRPr lang="en-US" sz="2100" dirty="0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5013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6515100" y="4579243"/>
            <a:ext cx="525780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ko-KR" altLang="en-US" sz="8000" dirty="0">
                <a:solidFill>
                  <a:srgbClr val="4CAF5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감사합니다</a:t>
            </a:r>
            <a:r>
              <a:rPr lang="en-US" altLang="ko-KR" sz="8000" dirty="0">
                <a:solidFill>
                  <a:srgbClr val="4CAF5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.</a:t>
            </a:r>
            <a:endParaRPr lang="en-US" sz="8000" dirty="0">
              <a:solidFill>
                <a:srgbClr val="4CAF50"/>
              </a:solidFill>
              <a:latin typeface="Georgia Pro Light"/>
              <a:ea typeface="Georgia Pro Light"/>
              <a:cs typeface="Georgia Pro Light"/>
              <a:sym typeface="Georgia Pro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193</Words>
  <Application>Microsoft Office PowerPoint</Application>
  <PresentationFormat>사용자 지정</PresentationFormat>
  <Paragraphs>49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Calibri</vt:lpstr>
      <vt:lpstr>DM Sans</vt:lpstr>
      <vt:lpstr>Arial</vt:lpstr>
      <vt:lpstr>Georgia Pro Light</vt:lpstr>
      <vt:lpstr>DM Sans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프레젠테이션 - AI-Based Control</dc:title>
  <dc:description>프레젠테이션 - AI-Based Control</dc:description>
  <cp:lastModifiedBy>민용 신</cp:lastModifiedBy>
  <cp:revision>6</cp:revision>
  <dcterms:created xsi:type="dcterms:W3CDTF">2006-08-16T00:00:00Z</dcterms:created>
  <dcterms:modified xsi:type="dcterms:W3CDTF">2025-12-16T20:43:32Z</dcterms:modified>
  <dc:identifier>DAG7sdQSGTI</dc:identifier>
</cp:coreProperties>
</file>